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3555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adside-images-heading"/>
          <p:cNvSpPr txBox="1"/>
          <p:nvPr/>
        </p:nvSpPr>
        <p:spPr>
          <a:xfrm>
            <a:off x="88053" y="50935"/>
            <a:ext cx="1422399" cy="219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9" b="1" i="0">
                <a:solidFill>
                  <a:srgbClr val="1F2937"/>
                </a:solidFill>
                <a:latin typeface="Times New Roman"/>
              </a:rPr>
              <a:t>Roadside images</a:t>
            </a:r>
          </a:p>
        </p:txBody>
      </p:sp>
      <p:sp>
        <p:nvSpPr>
          <p:cNvPr id="3" name="input-images"/>
          <p:cNvSpPr/>
          <p:nvPr/>
        </p:nvSpPr>
        <p:spPr>
          <a:xfrm>
            <a:off x="108373" y="338666"/>
            <a:ext cx="1388533" cy="14562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59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camera-trace" descr="image.png"/>
          <p:cNvPicPr>
            <a:picLocks noChangeAspect="1"/>
          </p:cNvPicPr>
          <p:nvPr/>
        </p:nvPicPr>
        <p:blipFill>
          <a:blip r:embed="rId2"/>
          <a:srcRect t="337" b="337"/>
          <a:stretch>
            <a:fillRect/>
          </a:stretch>
        </p:blipFill>
        <p:spPr>
          <a:xfrm>
            <a:off x="189653" y="433493"/>
            <a:ext cx="1225973" cy="1192106"/>
          </a:xfrm>
          <a:prstGeom prst="rect">
            <a:avLst/>
          </a:prstGeom>
        </p:spPr>
      </p:pic>
      <p:sp>
        <p:nvSpPr>
          <p:cNvPr id="5" name="camera-trace-border"/>
          <p:cNvSpPr/>
          <p:nvPr/>
        </p:nvSpPr>
        <p:spPr>
          <a:xfrm>
            <a:off x="189653" y="433493"/>
            <a:ext cx="1225973" cy="1192106"/>
          </a:xfrm>
          <a:prstGeom prst="rect">
            <a:avLst/>
          </a:prstGeom>
          <a:noFill/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urrent-frame-label"/>
          <p:cNvSpPr txBox="1"/>
          <p:nvPr/>
        </p:nvSpPr>
        <p:spPr>
          <a:xfrm>
            <a:off x="189653" y="1623297"/>
            <a:ext cx="1219199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0" i="0">
                <a:solidFill>
                  <a:srgbClr val="5F6B7A"/>
                </a:solidFill>
                <a:latin typeface="Times New Roman"/>
              </a:rPr>
              <a:t>current frame  t</a:t>
            </a:r>
          </a:p>
        </p:txBody>
      </p:sp>
      <p:sp>
        <p:nvSpPr>
          <p:cNvPr id="7" name="camera-geometry"/>
          <p:cNvSpPr/>
          <p:nvPr/>
        </p:nvSpPr>
        <p:spPr>
          <a:xfrm>
            <a:off x="230293" y="1943946"/>
            <a:ext cx="1761066" cy="14223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482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amera-fov-trace" descr="image.png"/>
          <p:cNvPicPr>
            <a:picLocks noChangeAspect="1"/>
          </p:cNvPicPr>
          <p:nvPr/>
        </p:nvPicPr>
        <p:blipFill>
          <a:blip r:embed="rId3"/>
          <a:srcRect t="13557" b="13557"/>
          <a:stretch>
            <a:fillRect/>
          </a:stretch>
        </p:blipFill>
        <p:spPr>
          <a:xfrm>
            <a:off x="311573" y="2025226"/>
            <a:ext cx="1598506" cy="1137919"/>
          </a:xfrm>
          <a:prstGeom prst="rect">
            <a:avLst/>
          </a:prstGeom>
        </p:spPr>
      </p:pic>
      <p:sp>
        <p:nvSpPr>
          <p:cNvPr id="9" name="camera-fov-trace-border"/>
          <p:cNvSpPr/>
          <p:nvPr/>
        </p:nvSpPr>
        <p:spPr>
          <a:xfrm>
            <a:off x="311573" y="2025226"/>
            <a:ext cx="1598506" cy="1137919"/>
          </a:xfrm>
          <a:prstGeom prst="rect">
            <a:avLst/>
          </a:prstGeom>
          <a:noFill/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mera-geometry-label"/>
          <p:cNvSpPr txBox="1"/>
          <p:nvPr/>
        </p:nvSpPr>
        <p:spPr>
          <a:xfrm>
            <a:off x="433493" y="3187936"/>
            <a:ext cx="1354666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1F2937"/>
                </a:solidFill>
                <a:latin typeface="Times New Roman"/>
              </a:rPr>
              <a:t>camera geometry</a:t>
            </a:r>
          </a:p>
        </p:txBody>
      </p:sp>
      <p:cxnSp>
        <p:nvCxnSpPr>
          <p:cNvPr id="11" name="calibration-depth-path-1"/>
          <p:cNvCxnSpPr/>
          <p:nvPr/>
        </p:nvCxnSpPr>
        <p:spPr>
          <a:xfrm flipV="1">
            <a:off x="1110826" y="1869439"/>
            <a:ext cx="0" cy="74507"/>
          </a:xfrm>
          <a:prstGeom prst="line">
            <a:avLst/>
          </a:prstGeom>
          <a:ln w="10159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alibration-depth-path-2"/>
          <p:cNvCxnSpPr/>
          <p:nvPr/>
        </p:nvCxnSpPr>
        <p:spPr>
          <a:xfrm>
            <a:off x="1110826" y="1869439"/>
            <a:ext cx="772160" cy="0"/>
          </a:xfrm>
          <a:prstGeom prst="line">
            <a:avLst/>
          </a:prstGeom>
          <a:ln w="10159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alibration-depth-path-3"/>
          <p:cNvCxnSpPr/>
          <p:nvPr/>
        </p:nvCxnSpPr>
        <p:spPr>
          <a:xfrm flipV="1">
            <a:off x="1882986" y="1463039"/>
            <a:ext cx="0" cy="406400"/>
          </a:xfrm>
          <a:prstGeom prst="line">
            <a:avLst/>
          </a:prstGeom>
          <a:ln w="10159">
            <a:solidFill>
              <a:srgbClr val="64748B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libration-depth-label"/>
          <p:cNvSpPr txBox="1"/>
          <p:nvPr/>
        </p:nvSpPr>
        <p:spPr>
          <a:xfrm>
            <a:off x="927946" y="1721849"/>
            <a:ext cx="1151466" cy="1325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73" b="1" i="0">
                <a:solidFill>
                  <a:srgbClr val="5F6B7A"/>
                </a:solidFill>
                <a:latin typeface="Times New Roman"/>
              </a:rPr>
              <a:t>calibration + depth</a:t>
            </a:r>
          </a:p>
        </p:txBody>
      </p:sp>
      <p:cxnSp>
        <p:nvCxnSpPr>
          <p:cNvPr id="15" name="input-to-encoder"/>
          <p:cNvCxnSpPr/>
          <p:nvPr/>
        </p:nvCxnSpPr>
        <p:spPr>
          <a:xfrm>
            <a:off x="1503679" y="1063413"/>
            <a:ext cx="169334" cy="0"/>
          </a:xfrm>
          <a:prstGeom prst="line">
            <a:avLst/>
          </a:prstGeom>
          <a:ln w="15578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mage-encoder"/>
          <p:cNvSpPr/>
          <p:nvPr/>
        </p:nvSpPr>
        <p:spPr>
          <a:xfrm>
            <a:off x="1693333" y="677333"/>
            <a:ext cx="379306" cy="772159"/>
          </a:xfrm>
          <a:prstGeom prst="parallelogram">
            <a:avLst/>
          </a:prstGeom>
          <a:solidFill>
            <a:srgbClr val="F3F0F8"/>
          </a:solidFill>
          <a:ln w="12700">
            <a:solidFill>
              <a:srgbClr val="6E62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mage-encoder-label"/>
          <p:cNvSpPr txBox="1"/>
          <p:nvPr/>
        </p:nvSpPr>
        <p:spPr>
          <a:xfrm>
            <a:off x="1679786" y="860213"/>
            <a:ext cx="406399" cy="3251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E628F"/>
                </a:solidFill>
                <a:latin typeface="Times New Roman"/>
              </a:rPr>
              <a:t>image</a:t>
            </a:r>
          </a:p>
          <a:p>
            <a:pPr algn="ctr"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6E628F"/>
                </a:solidFill>
                <a:latin typeface="Times New Roman"/>
              </a:rPr>
              <a:t>encoder</a:t>
            </a:r>
          </a:p>
        </p:txBody>
      </p:sp>
      <p:cxnSp>
        <p:nvCxnSpPr>
          <p:cNvPr id="18" name="encoder-to-voxel"/>
          <p:cNvCxnSpPr/>
          <p:nvPr/>
        </p:nvCxnSpPr>
        <p:spPr>
          <a:xfrm>
            <a:off x="2079413" y="1063413"/>
            <a:ext cx="203200" cy="0"/>
          </a:xfrm>
          <a:prstGeom prst="line">
            <a:avLst/>
          </a:prstGeom>
          <a:ln w="15578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adocc-decoder"/>
          <p:cNvSpPr/>
          <p:nvPr/>
        </p:nvSpPr>
        <p:spPr>
          <a:xfrm>
            <a:off x="2235199" y="230293"/>
            <a:ext cx="8161866" cy="32850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837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ecoder-heading"/>
          <p:cNvSpPr txBox="1"/>
          <p:nvPr/>
        </p:nvSpPr>
        <p:spPr>
          <a:xfrm>
            <a:off x="3589866" y="240859"/>
            <a:ext cx="2912533" cy="20116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73" b="1" i="0">
                <a:solidFill>
                  <a:srgbClr val="1F2937"/>
                </a:solidFill>
                <a:latin typeface="Times New Roman"/>
              </a:rPr>
              <a:t>RoadOcc coarse-to-fine decoder</a:t>
            </a:r>
          </a:p>
        </p:txBody>
      </p:sp>
      <p:sp>
        <p:nvSpPr>
          <p:cNvPr id="21" name="shared-across-label"/>
          <p:cNvSpPr txBox="1"/>
          <p:nvPr/>
        </p:nvSpPr>
        <p:spPr>
          <a:xfrm>
            <a:off x="7145866" y="282312"/>
            <a:ext cx="745066" cy="1463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3" b="1" i="0">
                <a:solidFill>
                  <a:srgbClr val="5F6B7A"/>
                </a:solidFill>
                <a:latin typeface="Times New Roman"/>
              </a:rPr>
              <a:t>shared across</a:t>
            </a:r>
          </a:p>
        </p:txBody>
      </p:sp>
      <p:sp>
        <p:nvSpPr>
          <p:cNvPr id="22" name="decoder-scale-1-8"/>
          <p:cNvSpPr/>
          <p:nvPr/>
        </p:nvSpPr>
        <p:spPr>
          <a:xfrm>
            <a:off x="7924799" y="277706"/>
            <a:ext cx="304799" cy="16255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1733" y="289221"/>
            <a:ext cx="270933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5F6B7A"/>
                </a:solidFill>
                <a:latin typeface="Times New Roman"/>
              </a:rPr>
              <a:t>1/8</a:t>
            </a:r>
          </a:p>
        </p:txBody>
      </p:sp>
      <p:sp>
        <p:nvSpPr>
          <p:cNvPr id="24" name="decoder-scale-1-4"/>
          <p:cNvSpPr/>
          <p:nvPr/>
        </p:nvSpPr>
        <p:spPr>
          <a:xfrm>
            <a:off x="8290559" y="277706"/>
            <a:ext cx="304799" cy="16255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7493" y="289221"/>
            <a:ext cx="270933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5F6B7A"/>
                </a:solidFill>
                <a:latin typeface="Times New Roman"/>
              </a:rPr>
              <a:t>1/4</a:t>
            </a:r>
          </a:p>
        </p:txBody>
      </p:sp>
      <p:sp>
        <p:nvSpPr>
          <p:cNvPr id="26" name="decoder-scale-1-2"/>
          <p:cNvSpPr/>
          <p:nvPr/>
        </p:nvSpPr>
        <p:spPr>
          <a:xfrm>
            <a:off x="8656319" y="277706"/>
            <a:ext cx="304799" cy="16255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73253" y="289221"/>
            <a:ext cx="270933" cy="1371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99" b="1" i="0">
                <a:solidFill>
                  <a:srgbClr val="5F6B7A"/>
                </a:solidFill>
                <a:latin typeface="Times New Roman"/>
              </a:rPr>
              <a:t>1/2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15306" y="358986"/>
            <a:ext cx="196427" cy="0"/>
          </a:xfrm>
          <a:prstGeom prst="line">
            <a:avLst/>
          </a:prstGeom>
          <a:ln w="9525">
            <a:solidFill>
              <a:srgbClr val="A8B3C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native-route-label"/>
          <p:cNvSpPr txBox="1"/>
          <p:nvPr/>
        </p:nvSpPr>
        <p:spPr>
          <a:xfrm>
            <a:off x="9394613" y="285766"/>
            <a:ext cx="880533" cy="1417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5F6B7A"/>
                </a:solidFill>
                <a:latin typeface="Times New Roman"/>
              </a:rPr>
              <a:t>native route</a:t>
            </a:r>
          </a:p>
        </p:txBody>
      </p:sp>
      <p:sp>
        <p:nvSpPr>
          <p:cNvPr id="30" name="current-voxel-front"/>
          <p:cNvSpPr/>
          <p:nvPr/>
        </p:nvSpPr>
        <p:spPr>
          <a:xfrm>
            <a:off x="2397759" y="1002453"/>
            <a:ext cx="501226" cy="501226"/>
          </a:xfrm>
          <a:prstGeom prst="rect">
            <a:avLst/>
          </a:prstGeom>
          <a:solidFill>
            <a:srgbClr val="A9C3E3"/>
          </a:solidFill>
          <a:ln w="8890">
            <a:solidFill>
              <a:srgbClr val="536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urrent-voxel-top"/>
          <p:cNvSpPr/>
          <p:nvPr/>
        </p:nvSpPr>
        <p:spPr>
          <a:xfrm>
            <a:off x="2397759" y="866986"/>
            <a:ext cx="663786" cy="135466"/>
          </a:xfrm>
          <a:prstGeom prst="parallelogram">
            <a:avLst/>
          </a:prstGeom>
          <a:solidFill>
            <a:srgbClr val="D7E5F4"/>
          </a:solidFill>
          <a:ln w="10160">
            <a:solidFill>
              <a:srgbClr val="536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urrent-voxel-side"/>
          <p:cNvSpPr/>
          <p:nvPr/>
        </p:nvSpPr>
        <p:spPr>
          <a:xfrm>
            <a:off x="2898986" y="866986"/>
            <a:ext cx="162559" cy="636693"/>
          </a:xfrm>
          <a:prstGeom prst="parallelogram">
            <a:avLst/>
          </a:prstGeom>
          <a:solidFill>
            <a:srgbClr val="7698C2"/>
          </a:solidFill>
          <a:ln w="10160">
            <a:solidFill>
              <a:srgbClr val="5361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2523066" y="1002453"/>
            <a:ext cx="0" cy="501226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397759" y="1127759"/>
            <a:ext cx="501227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648373" y="1002453"/>
            <a:ext cx="0" cy="501226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7759" y="1253066"/>
            <a:ext cx="501227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73679" y="1002453"/>
            <a:ext cx="0" cy="501226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97759" y="1378373"/>
            <a:ext cx="501227" cy="0"/>
          </a:xfrm>
          <a:prstGeom prst="line">
            <a:avLst/>
          </a:prstGeom>
          <a:ln w="952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urrent-voxel-label"/>
          <p:cNvSpPr txBox="1"/>
          <p:nvPr/>
        </p:nvSpPr>
        <p:spPr>
          <a:xfrm>
            <a:off x="2302933" y="1481057"/>
            <a:ext cx="880533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1F2937"/>
                </a:solidFill>
                <a:latin typeface="Times New Roman"/>
              </a:rPr>
              <a:t>current voxel</a:t>
            </a:r>
          </a:p>
        </p:txBody>
      </p:sp>
      <p:sp>
        <p:nvSpPr>
          <p:cNvPr id="40" name="current-feature-label"/>
          <p:cNvSpPr txBox="1"/>
          <p:nvPr/>
        </p:nvSpPr>
        <p:spPr>
          <a:xfrm>
            <a:off x="2302933" y="1623297"/>
            <a:ext cx="880533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0" i="0">
                <a:solidFill>
                  <a:srgbClr val="5F6B7A"/>
                </a:solidFill>
                <a:latin typeface="Times New Roman"/>
              </a:rPr>
              <a:t>feature  Qₜˢ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081866" y="1158239"/>
            <a:ext cx="169333" cy="0"/>
          </a:xfrm>
          <a:prstGeom prst="line">
            <a:avLst/>
          </a:prstGeom>
          <a:ln w="15578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ca"/>
          <p:cNvSpPr/>
          <p:nvPr/>
        </p:nvSpPr>
        <p:spPr>
          <a:xfrm>
            <a:off x="3251199" y="596053"/>
            <a:ext cx="1727199" cy="1510453"/>
          </a:xfrm>
          <a:prstGeom prst="roundRect">
            <a:avLst>
              <a:gd name="adj" fmla="val 8000"/>
            </a:avLst>
          </a:prstGeom>
          <a:solidFill>
            <a:srgbClr val="F7FBFE"/>
          </a:solidFill>
          <a:ln w="11514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ca-tab"/>
          <p:cNvSpPr/>
          <p:nvPr/>
        </p:nvSpPr>
        <p:spPr>
          <a:xfrm>
            <a:off x="3318933" y="514773"/>
            <a:ext cx="474133" cy="196426"/>
          </a:xfrm>
          <a:prstGeom prst="roundRect">
            <a:avLst>
              <a:gd name="adj" fmla="val 8000"/>
            </a:avLst>
          </a:prstGeom>
          <a:solidFill>
            <a:srgbClr val="2F6F9F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ca-title"/>
          <p:cNvSpPr txBox="1"/>
          <p:nvPr/>
        </p:nvSpPr>
        <p:spPr>
          <a:xfrm>
            <a:off x="3346026" y="525881"/>
            <a:ext cx="419946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FFFFFF"/>
                </a:solidFill>
                <a:latin typeface="Times New Roman"/>
              </a:rPr>
              <a:t>DCA</a:t>
            </a:r>
          </a:p>
        </p:txBody>
      </p:sp>
      <p:sp>
        <p:nvSpPr>
          <p:cNvPr id="45" name="dca-question"/>
          <p:cNvSpPr txBox="1"/>
          <p:nvPr/>
        </p:nvSpPr>
        <p:spPr>
          <a:xfrm>
            <a:off x="3894666" y="532790"/>
            <a:ext cx="1015999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6" b="1" i="1">
                <a:solidFill>
                  <a:srgbClr val="1F2937"/>
                </a:solidFill>
                <a:latin typeface="Times New Roman"/>
              </a:rPr>
              <a:t>Where needed?</a:t>
            </a:r>
          </a:p>
        </p:txBody>
      </p:sp>
      <p:pic>
        <p:nvPicPr>
          <p:cNvPr id="46" name="dca-trace" descr="image.png"/>
          <p:cNvPicPr>
            <a:picLocks noChangeAspect="1"/>
          </p:cNvPicPr>
          <p:nvPr/>
        </p:nvPicPr>
        <p:blipFill>
          <a:blip r:embed="rId4"/>
          <a:srcRect l="4394" r="4394"/>
          <a:stretch>
            <a:fillRect/>
          </a:stretch>
        </p:blipFill>
        <p:spPr>
          <a:xfrm>
            <a:off x="3346026" y="806026"/>
            <a:ext cx="853439" cy="894079"/>
          </a:xfrm>
          <a:prstGeom prst="rect">
            <a:avLst/>
          </a:prstGeom>
        </p:spPr>
      </p:pic>
      <p:sp>
        <p:nvSpPr>
          <p:cNvPr id="47" name="dca-trace-border"/>
          <p:cNvSpPr/>
          <p:nvPr/>
        </p:nvSpPr>
        <p:spPr>
          <a:xfrm>
            <a:off x="3346026" y="806026"/>
            <a:ext cx="853439" cy="894079"/>
          </a:xfrm>
          <a:prstGeom prst="rect">
            <a:avLst/>
          </a:prstGeom>
          <a:noFill/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ca-image-query-1"/>
          <p:cNvSpPr/>
          <p:nvPr/>
        </p:nvSpPr>
        <p:spPr>
          <a:xfrm>
            <a:off x="4355253" y="941493"/>
            <a:ext cx="325119" cy="230293"/>
          </a:xfrm>
          <a:prstGeom prst="roundRect">
            <a:avLst>
              <a:gd name="adj" fmla="val 8000"/>
            </a:avLst>
          </a:prstGeom>
          <a:solidFill>
            <a:srgbClr val="E4EEF7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4402666" y="1009226"/>
            <a:ext cx="216747" cy="0"/>
          </a:xfrm>
          <a:prstGeom prst="line">
            <a:avLst/>
          </a:prstGeom>
          <a:ln w="9525">
            <a:solidFill>
              <a:srgbClr val="9CB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402666" y="1083733"/>
            <a:ext cx="162560" cy="0"/>
          </a:xfrm>
          <a:prstGeom prst="line">
            <a:avLst/>
          </a:prstGeom>
          <a:ln w="9525">
            <a:solidFill>
              <a:srgbClr val="9CB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ca-image-query-2"/>
          <p:cNvSpPr/>
          <p:nvPr/>
        </p:nvSpPr>
        <p:spPr>
          <a:xfrm>
            <a:off x="4409439" y="894079"/>
            <a:ext cx="325119" cy="230293"/>
          </a:xfrm>
          <a:prstGeom prst="roundRect">
            <a:avLst>
              <a:gd name="adj" fmla="val 8000"/>
            </a:avLst>
          </a:prstGeom>
          <a:solidFill>
            <a:srgbClr val="E4EEF7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Connector 51"/>
          <p:cNvCxnSpPr/>
          <p:nvPr/>
        </p:nvCxnSpPr>
        <p:spPr>
          <a:xfrm>
            <a:off x="4456853" y="961813"/>
            <a:ext cx="216746" cy="0"/>
          </a:xfrm>
          <a:prstGeom prst="line">
            <a:avLst/>
          </a:prstGeom>
          <a:ln w="9525">
            <a:solidFill>
              <a:srgbClr val="9CB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456853" y="1036319"/>
            <a:ext cx="162560" cy="0"/>
          </a:xfrm>
          <a:prstGeom prst="line">
            <a:avLst/>
          </a:prstGeom>
          <a:ln w="9525">
            <a:solidFill>
              <a:srgbClr val="9CB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dca-image-query-3"/>
          <p:cNvSpPr/>
          <p:nvPr/>
        </p:nvSpPr>
        <p:spPr>
          <a:xfrm>
            <a:off x="4463626" y="846666"/>
            <a:ext cx="325119" cy="230293"/>
          </a:xfrm>
          <a:prstGeom prst="roundRect">
            <a:avLst>
              <a:gd name="adj" fmla="val 8000"/>
            </a:avLst>
          </a:prstGeom>
          <a:solidFill>
            <a:srgbClr val="E4EEF7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>
            <a:off x="4511039" y="914399"/>
            <a:ext cx="216747" cy="0"/>
          </a:xfrm>
          <a:prstGeom prst="line">
            <a:avLst/>
          </a:prstGeom>
          <a:ln w="9525">
            <a:solidFill>
              <a:srgbClr val="9CB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11039" y="988906"/>
            <a:ext cx="162560" cy="0"/>
          </a:xfrm>
          <a:prstGeom prst="line">
            <a:avLst/>
          </a:prstGeom>
          <a:ln w="9525">
            <a:solidFill>
              <a:srgbClr val="9CBA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4382346" y="1368213"/>
            <a:ext cx="277707" cy="0"/>
          </a:xfrm>
          <a:prstGeom prst="line">
            <a:avLst/>
          </a:prstGeom>
          <a:ln w="13546">
            <a:solidFill>
              <a:srgbClr val="2F6F9F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dca-candidates"/>
          <p:cNvSpPr/>
          <p:nvPr/>
        </p:nvSpPr>
        <p:spPr>
          <a:xfrm>
            <a:off x="4470399" y="1517226"/>
            <a:ext cx="399626" cy="264159"/>
          </a:xfrm>
          <a:prstGeom prst="roundRect">
            <a:avLst>
              <a:gd name="adj" fmla="val 8000"/>
            </a:avLst>
          </a:prstGeom>
          <a:solidFill>
            <a:srgbClr val="EAF3F9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17813" y="1564639"/>
            <a:ext cx="40639" cy="40639"/>
          </a:xfrm>
          <a:prstGeom prst="roundRect">
            <a:avLst>
              <a:gd name="adj" fmla="val 8000"/>
            </a:avLst>
          </a:prstGeom>
          <a:solidFill>
            <a:srgbClr val="2F6F9F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639733" y="1564639"/>
            <a:ext cx="40639" cy="40639"/>
          </a:xfrm>
          <a:prstGeom prst="roundRect">
            <a:avLst>
              <a:gd name="adj" fmla="val 8000"/>
            </a:avLst>
          </a:prstGeom>
          <a:solidFill>
            <a:srgbClr val="2F6F9F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761653" y="1564639"/>
            <a:ext cx="40639" cy="40639"/>
          </a:xfrm>
          <a:prstGeom prst="roundRect">
            <a:avLst>
              <a:gd name="adj" fmla="val 8000"/>
            </a:avLst>
          </a:prstGeom>
          <a:solidFill>
            <a:srgbClr val="2F6F9F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4578773" y="1686559"/>
            <a:ext cx="40639" cy="40639"/>
          </a:xfrm>
          <a:prstGeom prst="roundRect">
            <a:avLst>
              <a:gd name="adj" fmla="val 8000"/>
            </a:avLst>
          </a:prstGeom>
          <a:solidFill>
            <a:srgbClr val="2F6F9F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700693" y="1686559"/>
            <a:ext cx="40639" cy="40639"/>
          </a:xfrm>
          <a:prstGeom prst="roundRect">
            <a:avLst>
              <a:gd name="adj" fmla="val 8000"/>
            </a:avLst>
          </a:prstGeom>
          <a:solidFill>
            <a:srgbClr val="2F6F9F"/>
          </a:solidFill>
          <a:ln w="8890">
            <a:solidFill>
              <a:srgbClr val="2F6F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dca-summary"/>
          <p:cNvSpPr txBox="1"/>
          <p:nvPr/>
        </p:nvSpPr>
        <p:spPr>
          <a:xfrm>
            <a:off x="3332479" y="1839908"/>
            <a:ext cx="1557866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2F6F9F"/>
                </a:solidFill>
                <a:latin typeface="Times New Roman"/>
              </a:rPr>
              <a:t>candidate-guided re-query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4985173" y="1158239"/>
            <a:ext cx="176106" cy="0"/>
          </a:xfrm>
          <a:prstGeom prst="line">
            <a:avLst/>
          </a:prstGeom>
          <a:ln w="15578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vve"/>
          <p:cNvSpPr/>
          <p:nvPr/>
        </p:nvSpPr>
        <p:spPr>
          <a:xfrm>
            <a:off x="5161279" y="596053"/>
            <a:ext cx="1727199" cy="1510453"/>
          </a:xfrm>
          <a:prstGeom prst="roundRect">
            <a:avLst>
              <a:gd name="adj" fmla="val 8000"/>
            </a:avLst>
          </a:prstGeom>
          <a:solidFill>
            <a:srgbClr val="FFFBF5"/>
          </a:solidFill>
          <a:ln w="11514">
            <a:solidFill>
              <a:srgbClr val="C77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ve-tab"/>
          <p:cNvSpPr/>
          <p:nvPr/>
        </p:nvSpPr>
        <p:spPr>
          <a:xfrm>
            <a:off x="5229013" y="514773"/>
            <a:ext cx="474133" cy="196426"/>
          </a:xfrm>
          <a:prstGeom prst="roundRect">
            <a:avLst>
              <a:gd name="adj" fmla="val 8000"/>
            </a:avLst>
          </a:prstGeom>
          <a:solidFill>
            <a:srgbClr val="C7781C"/>
          </a:solidFill>
          <a:ln w="8890">
            <a:solidFill>
              <a:srgbClr val="C77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ve-title"/>
          <p:cNvSpPr txBox="1"/>
          <p:nvPr/>
        </p:nvSpPr>
        <p:spPr>
          <a:xfrm>
            <a:off x="5256106" y="525881"/>
            <a:ext cx="419946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FFFFFF"/>
                </a:solidFill>
                <a:latin typeface="Times New Roman"/>
              </a:rPr>
              <a:t>VVE</a:t>
            </a:r>
          </a:p>
        </p:txBody>
      </p:sp>
      <p:sp>
        <p:nvSpPr>
          <p:cNvPr id="69" name="vve-question"/>
          <p:cNvSpPr txBox="1"/>
          <p:nvPr/>
        </p:nvSpPr>
        <p:spPr>
          <a:xfrm>
            <a:off x="5804746" y="532790"/>
            <a:ext cx="1015999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6" b="1" i="1">
                <a:solidFill>
                  <a:srgbClr val="1F2937"/>
                </a:solidFill>
                <a:latin typeface="Times New Roman"/>
              </a:rPr>
              <a:t>Where to read?</a:t>
            </a:r>
          </a:p>
        </p:txBody>
      </p:sp>
      <p:pic>
        <p:nvPicPr>
          <p:cNvPr id="70" name="vve-trace" descr="image.png"/>
          <p:cNvPicPr>
            <a:picLocks noChangeAspect="1"/>
          </p:cNvPicPr>
          <p:nvPr/>
        </p:nvPicPr>
        <p:blipFill>
          <a:blip r:embed="rId5"/>
          <a:srcRect l="4394" r="4394"/>
          <a:stretch>
            <a:fillRect/>
          </a:stretch>
        </p:blipFill>
        <p:spPr>
          <a:xfrm>
            <a:off x="5256106" y="806026"/>
            <a:ext cx="853439" cy="894079"/>
          </a:xfrm>
          <a:prstGeom prst="rect">
            <a:avLst/>
          </a:prstGeom>
        </p:spPr>
      </p:pic>
      <p:sp>
        <p:nvSpPr>
          <p:cNvPr id="71" name="vve-trace-border"/>
          <p:cNvSpPr/>
          <p:nvPr/>
        </p:nvSpPr>
        <p:spPr>
          <a:xfrm>
            <a:off x="5256106" y="806026"/>
            <a:ext cx="853439" cy="894079"/>
          </a:xfrm>
          <a:prstGeom prst="rect">
            <a:avLst/>
          </a:prstGeom>
          <a:noFill/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ve-grid-0-0"/>
          <p:cNvSpPr/>
          <p:nvPr/>
        </p:nvSpPr>
        <p:spPr>
          <a:xfrm>
            <a:off x="6299199" y="9279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ve-grid-0-1"/>
          <p:cNvSpPr/>
          <p:nvPr/>
        </p:nvSpPr>
        <p:spPr>
          <a:xfrm>
            <a:off x="6400799" y="9279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ve-grid-0-2"/>
          <p:cNvSpPr/>
          <p:nvPr/>
        </p:nvSpPr>
        <p:spPr>
          <a:xfrm>
            <a:off x="6502399" y="9279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ve-grid-0-3"/>
          <p:cNvSpPr/>
          <p:nvPr/>
        </p:nvSpPr>
        <p:spPr>
          <a:xfrm>
            <a:off x="6603999" y="9279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ve-grid-0-4"/>
          <p:cNvSpPr/>
          <p:nvPr/>
        </p:nvSpPr>
        <p:spPr>
          <a:xfrm>
            <a:off x="6705599" y="9279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ve-grid-1-0"/>
          <p:cNvSpPr/>
          <p:nvPr/>
        </p:nvSpPr>
        <p:spPr>
          <a:xfrm>
            <a:off x="6299199" y="10295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ve-grid-1-1"/>
          <p:cNvSpPr/>
          <p:nvPr/>
        </p:nvSpPr>
        <p:spPr>
          <a:xfrm>
            <a:off x="6400799" y="10295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ve-grid-1-2"/>
          <p:cNvSpPr/>
          <p:nvPr/>
        </p:nvSpPr>
        <p:spPr>
          <a:xfrm>
            <a:off x="6502399" y="10295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ve-grid-1-3"/>
          <p:cNvSpPr/>
          <p:nvPr/>
        </p:nvSpPr>
        <p:spPr>
          <a:xfrm>
            <a:off x="6603999" y="1029546"/>
            <a:ext cx="101599" cy="101599"/>
          </a:xfrm>
          <a:prstGeom prst="rect">
            <a:avLst/>
          </a:prstGeom>
          <a:solidFill>
            <a:srgbClr val="FFF2DD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ve-grid-1-4"/>
          <p:cNvSpPr/>
          <p:nvPr/>
        </p:nvSpPr>
        <p:spPr>
          <a:xfrm>
            <a:off x="6705599" y="10295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ve-grid-2-0"/>
          <p:cNvSpPr/>
          <p:nvPr/>
        </p:nvSpPr>
        <p:spPr>
          <a:xfrm>
            <a:off x="6299199" y="11311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ve-grid-2-1"/>
          <p:cNvSpPr/>
          <p:nvPr/>
        </p:nvSpPr>
        <p:spPr>
          <a:xfrm>
            <a:off x="6400799" y="11311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ve-grid-2-2"/>
          <p:cNvSpPr/>
          <p:nvPr/>
        </p:nvSpPr>
        <p:spPr>
          <a:xfrm>
            <a:off x="6502399" y="11311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ve-grid-2-3"/>
          <p:cNvSpPr/>
          <p:nvPr/>
        </p:nvSpPr>
        <p:spPr>
          <a:xfrm>
            <a:off x="6603999" y="11311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ve-grid-2-4"/>
          <p:cNvSpPr/>
          <p:nvPr/>
        </p:nvSpPr>
        <p:spPr>
          <a:xfrm>
            <a:off x="6705599" y="11311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ve-grid-3-0"/>
          <p:cNvSpPr/>
          <p:nvPr/>
        </p:nvSpPr>
        <p:spPr>
          <a:xfrm>
            <a:off x="6299199" y="12327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ve-grid-3-1"/>
          <p:cNvSpPr/>
          <p:nvPr/>
        </p:nvSpPr>
        <p:spPr>
          <a:xfrm>
            <a:off x="6400799" y="1232746"/>
            <a:ext cx="101599" cy="101599"/>
          </a:xfrm>
          <a:prstGeom prst="rect">
            <a:avLst/>
          </a:prstGeom>
          <a:solidFill>
            <a:srgbClr val="C7D4E3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ve-grid-3-2"/>
          <p:cNvSpPr/>
          <p:nvPr/>
        </p:nvSpPr>
        <p:spPr>
          <a:xfrm>
            <a:off x="6502399" y="12327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ve-grid-3-3"/>
          <p:cNvSpPr/>
          <p:nvPr/>
        </p:nvSpPr>
        <p:spPr>
          <a:xfrm>
            <a:off x="6603999" y="12327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ve-grid-3-4"/>
          <p:cNvSpPr/>
          <p:nvPr/>
        </p:nvSpPr>
        <p:spPr>
          <a:xfrm>
            <a:off x="6705599" y="12327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ve-grid-4-0"/>
          <p:cNvSpPr/>
          <p:nvPr/>
        </p:nvSpPr>
        <p:spPr>
          <a:xfrm>
            <a:off x="6299199" y="13343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ve-grid-4-1"/>
          <p:cNvSpPr/>
          <p:nvPr/>
        </p:nvSpPr>
        <p:spPr>
          <a:xfrm>
            <a:off x="6400799" y="13343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ve-grid-4-2"/>
          <p:cNvSpPr/>
          <p:nvPr/>
        </p:nvSpPr>
        <p:spPr>
          <a:xfrm>
            <a:off x="6502399" y="13343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ve-grid-4-3"/>
          <p:cNvSpPr/>
          <p:nvPr/>
        </p:nvSpPr>
        <p:spPr>
          <a:xfrm>
            <a:off x="6603999" y="13343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ve-grid-4-4"/>
          <p:cNvSpPr/>
          <p:nvPr/>
        </p:nvSpPr>
        <p:spPr>
          <a:xfrm>
            <a:off x="6705599" y="1334346"/>
            <a:ext cx="101599" cy="101599"/>
          </a:xfrm>
          <a:prstGeom prst="rect">
            <a:avLst/>
          </a:prstGeom>
          <a:solidFill>
            <a:srgbClr val="FFFFFF"/>
          </a:solidFill>
          <a:ln w="8890">
            <a:solidFill>
              <a:srgbClr val="9AA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7" name="vve-displacement"/>
          <p:cNvCxnSpPr/>
          <p:nvPr/>
        </p:nvCxnSpPr>
        <p:spPr>
          <a:xfrm flipV="1">
            <a:off x="6451599" y="1095586"/>
            <a:ext cx="187960" cy="187960"/>
          </a:xfrm>
          <a:prstGeom prst="line">
            <a:avLst/>
          </a:prstGeom>
          <a:ln w="16255">
            <a:solidFill>
              <a:srgbClr val="C7781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vve-address"/>
          <p:cNvSpPr txBox="1"/>
          <p:nvPr/>
        </p:nvSpPr>
        <p:spPr>
          <a:xfrm>
            <a:off x="6261946" y="1426734"/>
            <a:ext cx="575733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1">
                <a:solidFill>
                  <a:srgbClr val="C7781C"/>
                </a:solidFill>
                <a:latin typeface="Times New Roman"/>
              </a:rPr>
              <a:t>x − τv̂</a:t>
            </a:r>
          </a:p>
        </p:txBody>
      </p:sp>
      <p:sp>
        <p:nvSpPr>
          <p:cNvPr id="99" name="vve-summary"/>
          <p:cNvSpPr txBox="1"/>
          <p:nvPr/>
        </p:nvSpPr>
        <p:spPr>
          <a:xfrm>
            <a:off x="5225626" y="1839908"/>
            <a:ext cx="1591733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C7781C"/>
                </a:solidFill>
                <a:latin typeface="Times New Roman"/>
              </a:rPr>
              <a:t>local current–history match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6895253" y="1158239"/>
            <a:ext cx="176106" cy="0"/>
          </a:xfrm>
          <a:prstGeom prst="line">
            <a:avLst/>
          </a:prstGeom>
          <a:ln w="15578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vdsf"/>
          <p:cNvSpPr/>
          <p:nvPr/>
        </p:nvSpPr>
        <p:spPr>
          <a:xfrm>
            <a:off x="7071359" y="596053"/>
            <a:ext cx="3163146" cy="1510453"/>
          </a:xfrm>
          <a:prstGeom prst="roundRect">
            <a:avLst>
              <a:gd name="adj" fmla="val 8000"/>
            </a:avLst>
          </a:prstGeom>
          <a:solidFill>
            <a:srgbClr val="F7FCFB"/>
          </a:solidFill>
          <a:ln w="11514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dsf-tab"/>
          <p:cNvSpPr/>
          <p:nvPr/>
        </p:nvSpPr>
        <p:spPr>
          <a:xfrm>
            <a:off x="7139093" y="514773"/>
            <a:ext cx="514773" cy="196426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dsf-title"/>
          <p:cNvSpPr txBox="1"/>
          <p:nvPr/>
        </p:nvSpPr>
        <p:spPr>
          <a:xfrm>
            <a:off x="7166186" y="525881"/>
            <a:ext cx="460586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FFFFFF"/>
                </a:solidFill>
                <a:latin typeface="Times New Roman"/>
              </a:rPr>
              <a:t>VDSF</a:t>
            </a:r>
          </a:p>
        </p:txBody>
      </p:sp>
      <p:sp>
        <p:nvSpPr>
          <p:cNvPr id="104" name="vdsf-question"/>
          <p:cNvSpPr txBox="1"/>
          <p:nvPr/>
        </p:nvSpPr>
        <p:spPr>
          <a:xfrm>
            <a:off x="9150773" y="532790"/>
            <a:ext cx="1015999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6" b="1" i="1">
                <a:solidFill>
                  <a:srgbClr val="1F2937"/>
                </a:solidFill>
                <a:latin typeface="Times New Roman"/>
              </a:rPr>
              <a:t>Which source?</a:t>
            </a:r>
          </a:p>
        </p:txBody>
      </p:sp>
      <p:sp>
        <p:nvSpPr>
          <p:cNvPr id="105" name="route-persist"/>
          <p:cNvSpPr/>
          <p:nvPr/>
        </p:nvSpPr>
        <p:spPr>
          <a:xfrm>
            <a:off x="7166186" y="792479"/>
            <a:ext cx="684106" cy="1076959"/>
          </a:xfrm>
          <a:prstGeom prst="roundRect">
            <a:avLst>
              <a:gd name="adj" fmla="val 8000"/>
            </a:avLst>
          </a:prstGeom>
          <a:solidFill>
            <a:srgbClr val="EAF3FC"/>
          </a:solidFill>
          <a:ln w="8890">
            <a:solidFill>
              <a:srgbClr val="2D7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te-persist-badge"/>
          <p:cNvSpPr/>
          <p:nvPr/>
        </p:nvSpPr>
        <p:spPr>
          <a:xfrm>
            <a:off x="7200053" y="839893"/>
            <a:ext cx="135466" cy="135466"/>
          </a:xfrm>
          <a:prstGeom prst="ellipse">
            <a:avLst/>
          </a:prstGeom>
          <a:solidFill>
            <a:srgbClr val="2D7DD2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206826" y="851678"/>
            <a:ext cx="121919" cy="1188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FFFFFF"/>
                </a:solidFill>
                <a:latin typeface="Times New Roman"/>
              </a:rPr>
              <a:t>P</a:t>
            </a:r>
          </a:p>
        </p:txBody>
      </p:sp>
      <p:sp>
        <p:nvSpPr>
          <p:cNvPr id="108" name="route-persist-label"/>
          <p:cNvSpPr txBox="1"/>
          <p:nvPr/>
        </p:nvSpPr>
        <p:spPr>
          <a:xfrm>
            <a:off x="7369386" y="834406"/>
            <a:ext cx="460586" cy="1417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1F2937"/>
                </a:solidFill>
                <a:latin typeface="Times New Roman"/>
              </a:rPr>
              <a:t>Persist</a:t>
            </a:r>
          </a:p>
        </p:txBody>
      </p:sp>
      <p:pic>
        <p:nvPicPr>
          <p:cNvPr id="109" name="persist-trace" descr="image.png"/>
          <p:cNvPicPr>
            <a:picLocks noChangeAspect="1"/>
          </p:cNvPicPr>
          <p:nvPr/>
        </p:nvPicPr>
        <p:blipFill>
          <a:blip r:embed="rId6"/>
          <a:srcRect t="752" b="752"/>
          <a:stretch>
            <a:fillRect/>
          </a:stretch>
        </p:blipFill>
        <p:spPr>
          <a:xfrm>
            <a:off x="7220373" y="1009226"/>
            <a:ext cx="575733" cy="541866"/>
          </a:xfrm>
          <a:prstGeom prst="rect">
            <a:avLst/>
          </a:prstGeom>
        </p:spPr>
      </p:pic>
      <p:sp>
        <p:nvSpPr>
          <p:cNvPr id="110" name="persist-trace-border"/>
          <p:cNvSpPr/>
          <p:nvPr/>
        </p:nvSpPr>
        <p:spPr>
          <a:xfrm>
            <a:off x="7220373" y="1009226"/>
            <a:ext cx="575733" cy="541866"/>
          </a:xfrm>
          <a:prstGeom prst="rect">
            <a:avLst/>
          </a:prstGeom>
          <a:noFill/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te-persist-formula"/>
          <p:cNvSpPr txBox="1"/>
          <p:nvPr/>
        </p:nvSpPr>
        <p:spPr>
          <a:xfrm>
            <a:off x="7196666" y="1569110"/>
            <a:ext cx="623146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0" i="1">
                <a:solidFill>
                  <a:srgbClr val="1F2937"/>
                </a:solidFill>
                <a:latin typeface="Times New Roman"/>
              </a:rPr>
              <a:t>H(x)</a:t>
            </a:r>
          </a:p>
        </p:txBody>
      </p:sp>
      <p:sp>
        <p:nvSpPr>
          <p:cNvPr id="112" name="route-persist-weight"/>
          <p:cNvSpPr txBox="1"/>
          <p:nvPr/>
        </p:nvSpPr>
        <p:spPr>
          <a:xfrm>
            <a:off x="7237306" y="1704577"/>
            <a:ext cx="541866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D7DD2"/>
                </a:solidFill>
                <a:latin typeface="Times New Roman"/>
              </a:rPr>
              <a:t>αP</a:t>
            </a:r>
          </a:p>
        </p:txBody>
      </p:sp>
      <p:sp>
        <p:nvSpPr>
          <p:cNvPr id="113" name="route-transport"/>
          <p:cNvSpPr/>
          <p:nvPr/>
        </p:nvSpPr>
        <p:spPr>
          <a:xfrm>
            <a:off x="7918026" y="792479"/>
            <a:ext cx="684106" cy="1076959"/>
          </a:xfrm>
          <a:prstGeom prst="roundRect">
            <a:avLst>
              <a:gd name="adj" fmla="val 8000"/>
            </a:avLst>
          </a:prstGeom>
          <a:solidFill>
            <a:srgbClr val="FFF2DD"/>
          </a:solidFill>
          <a:ln w="8890">
            <a:solidFill>
              <a:srgbClr val="E992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te-transport-badge"/>
          <p:cNvSpPr/>
          <p:nvPr/>
        </p:nvSpPr>
        <p:spPr>
          <a:xfrm>
            <a:off x="7951893" y="839893"/>
            <a:ext cx="135466" cy="135466"/>
          </a:xfrm>
          <a:prstGeom prst="ellipse">
            <a:avLst/>
          </a:prstGeom>
          <a:solidFill>
            <a:srgbClr val="E99214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958666" y="851678"/>
            <a:ext cx="121919" cy="1188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FFFFFF"/>
                </a:solidFill>
                <a:latin typeface="Times New Roman"/>
              </a:rPr>
              <a:t>T</a:t>
            </a:r>
          </a:p>
        </p:txBody>
      </p:sp>
      <p:sp>
        <p:nvSpPr>
          <p:cNvPr id="116" name="route-transport-label"/>
          <p:cNvSpPr txBox="1"/>
          <p:nvPr/>
        </p:nvSpPr>
        <p:spPr>
          <a:xfrm>
            <a:off x="8121226" y="834406"/>
            <a:ext cx="460586" cy="1417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1F2937"/>
                </a:solidFill>
                <a:latin typeface="Times New Roman"/>
              </a:rPr>
              <a:t>Transport</a:t>
            </a:r>
          </a:p>
        </p:txBody>
      </p:sp>
      <p:pic>
        <p:nvPicPr>
          <p:cNvPr id="117" name="transport-trace" descr="image.png"/>
          <p:cNvPicPr>
            <a:picLocks noChangeAspect="1"/>
          </p:cNvPicPr>
          <p:nvPr/>
        </p:nvPicPr>
        <p:blipFill>
          <a:blip r:embed="rId7"/>
          <a:srcRect t="752" b="752"/>
          <a:stretch>
            <a:fillRect/>
          </a:stretch>
        </p:blipFill>
        <p:spPr>
          <a:xfrm>
            <a:off x="7972213" y="1009226"/>
            <a:ext cx="575733" cy="541866"/>
          </a:xfrm>
          <a:prstGeom prst="rect">
            <a:avLst/>
          </a:prstGeom>
        </p:spPr>
      </p:pic>
      <p:sp>
        <p:nvSpPr>
          <p:cNvPr id="118" name="transport-trace-border"/>
          <p:cNvSpPr/>
          <p:nvPr/>
        </p:nvSpPr>
        <p:spPr>
          <a:xfrm>
            <a:off x="7972213" y="1009226"/>
            <a:ext cx="575733" cy="541866"/>
          </a:xfrm>
          <a:prstGeom prst="rect">
            <a:avLst/>
          </a:prstGeom>
          <a:noFill/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oute-transport-formula"/>
          <p:cNvSpPr txBox="1"/>
          <p:nvPr/>
        </p:nvSpPr>
        <p:spPr>
          <a:xfrm>
            <a:off x="7948506" y="1569110"/>
            <a:ext cx="623146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0" i="1">
                <a:solidFill>
                  <a:srgbClr val="1F2937"/>
                </a:solidFill>
                <a:latin typeface="Times New Roman"/>
              </a:rPr>
              <a:t>H(x − τv̂)</a:t>
            </a:r>
          </a:p>
        </p:txBody>
      </p:sp>
      <p:sp>
        <p:nvSpPr>
          <p:cNvPr id="120" name="route-transport-weight"/>
          <p:cNvSpPr txBox="1"/>
          <p:nvPr/>
        </p:nvSpPr>
        <p:spPr>
          <a:xfrm>
            <a:off x="7989146" y="1704577"/>
            <a:ext cx="541866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E99214"/>
                </a:solidFill>
                <a:latin typeface="Times New Roman"/>
              </a:rPr>
              <a:t>αT</a:t>
            </a:r>
          </a:p>
        </p:txBody>
      </p:sp>
      <p:sp>
        <p:nvSpPr>
          <p:cNvPr id="121" name="route-refresh"/>
          <p:cNvSpPr/>
          <p:nvPr/>
        </p:nvSpPr>
        <p:spPr>
          <a:xfrm>
            <a:off x="8669866" y="792479"/>
            <a:ext cx="684106" cy="1076959"/>
          </a:xfrm>
          <a:prstGeom prst="roundRect">
            <a:avLst>
              <a:gd name="adj" fmla="val 8000"/>
            </a:avLst>
          </a:prstGeom>
          <a:solidFill>
            <a:srgbClr val="E9F8F0"/>
          </a:solidFill>
          <a:ln w="8890">
            <a:solidFill>
              <a:srgbClr val="2EAD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te-refresh-badge"/>
          <p:cNvSpPr/>
          <p:nvPr/>
        </p:nvSpPr>
        <p:spPr>
          <a:xfrm>
            <a:off x="8703733" y="839893"/>
            <a:ext cx="135466" cy="135466"/>
          </a:xfrm>
          <a:prstGeom prst="ellipse">
            <a:avLst/>
          </a:prstGeom>
          <a:solidFill>
            <a:srgbClr val="2EAD65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710506" y="851678"/>
            <a:ext cx="121919" cy="11887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93" b="1" i="0">
                <a:solidFill>
                  <a:srgbClr val="FFFFFF"/>
                </a:solidFill>
                <a:latin typeface="Times New Roman"/>
              </a:rPr>
              <a:t>R</a:t>
            </a:r>
          </a:p>
        </p:txBody>
      </p:sp>
      <p:sp>
        <p:nvSpPr>
          <p:cNvPr id="124" name="route-refresh-label"/>
          <p:cNvSpPr txBox="1"/>
          <p:nvPr/>
        </p:nvSpPr>
        <p:spPr>
          <a:xfrm>
            <a:off x="8873066" y="834406"/>
            <a:ext cx="460586" cy="1417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1F2937"/>
                </a:solidFill>
                <a:latin typeface="Times New Roman"/>
              </a:rPr>
              <a:t>Refresh</a:t>
            </a:r>
          </a:p>
        </p:txBody>
      </p:sp>
      <p:pic>
        <p:nvPicPr>
          <p:cNvPr id="125" name="refresh-trace" descr="image.png"/>
          <p:cNvPicPr>
            <a:picLocks noChangeAspect="1"/>
          </p:cNvPicPr>
          <p:nvPr/>
        </p:nvPicPr>
        <p:blipFill>
          <a:blip r:embed="rId8"/>
          <a:srcRect t="752" b="752"/>
          <a:stretch>
            <a:fillRect/>
          </a:stretch>
        </p:blipFill>
        <p:spPr>
          <a:xfrm>
            <a:off x="8724053" y="1009226"/>
            <a:ext cx="575733" cy="541866"/>
          </a:xfrm>
          <a:prstGeom prst="rect">
            <a:avLst/>
          </a:prstGeom>
        </p:spPr>
      </p:pic>
      <p:sp>
        <p:nvSpPr>
          <p:cNvPr id="126" name="refresh-trace-border"/>
          <p:cNvSpPr/>
          <p:nvPr/>
        </p:nvSpPr>
        <p:spPr>
          <a:xfrm>
            <a:off x="8724053" y="1009226"/>
            <a:ext cx="575733" cy="541866"/>
          </a:xfrm>
          <a:prstGeom prst="rect">
            <a:avLst/>
          </a:prstGeom>
          <a:noFill/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oute-refresh-formula"/>
          <p:cNvSpPr txBox="1"/>
          <p:nvPr/>
        </p:nvSpPr>
        <p:spPr>
          <a:xfrm>
            <a:off x="8700346" y="1569110"/>
            <a:ext cx="623146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0" i="1">
                <a:solidFill>
                  <a:srgbClr val="1F2937"/>
                </a:solidFill>
                <a:latin typeface="Times New Roman"/>
              </a:rPr>
              <a:t>Qₜ(x)</a:t>
            </a:r>
          </a:p>
        </p:txBody>
      </p:sp>
      <p:sp>
        <p:nvSpPr>
          <p:cNvPr id="128" name="route-refresh-weight"/>
          <p:cNvSpPr txBox="1"/>
          <p:nvPr/>
        </p:nvSpPr>
        <p:spPr>
          <a:xfrm>
            <a:off x="8740986" y="1704577"/>
            <a:ext cx="541866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EAD65"/>
                </a:solidFill>
                <a:latin typeface="Times New Roman"/>
              </a:rPr>
              <a:t>αR</a:t>
            </a:r>
          </a:p>
        </p:txBody>
      </p:sp>
      <p:cxnSp>
        <p:nvCxnSpPr>
          <p:cNvPr id="129" name="route-to-fusion-1"/>
          <p:cNvCxnSpPr/>
          <p:nvPr/>
        </p:nvCxnSpPr>
        <p:spPr>
          <a:xfrm>
            <a:off x="9421706" y="968586"/>
            <a:ext cx="0" cy="345440"/>
          </a:xfrm>
          <a:prstGeom prst="line">
            <a:avLst/>
          </a:prstGeom>
          <a:ln w="13546">
            <a:solidFill>
              <a:srgbClr val="2D7DD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route-to-fusion-2"/>
          <p:cNvCxnSpPr/>
          <p:nvPr/>
        </p:nvCxnSpPr>
        <p:spPr>
          <a:xfrm>
            <a:off x="9421706" y="1239519"/>
            <a:ext cx="0" cy="74507"/>
          </a:xfrm>
          <a:prstGeom prst="line">
            <a:avLst/>
          </a:prstGeom>
          <a:ln w="13546">
            <a:solidFill>
              <a:srgbClr val="E99214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route-to-fusion-3"/>
          <p:cNvCxnSpPr/>
          <p:nvPr/>
        </p:nvCxnSpPr>
        <p:spPr>
          <a:xfrm flipV="1">
            <a:off x="9421706" y="1314026"/>
            <a:ext cx="0" cy="196427"/>
          </a:xfrm>
          <a:prstGeom prst="line">
            <a:avLst/>
          </a:prstGeom>
          <a:ln w="13546">
            <a:solidFill>
              <a:srgbClr val="2EAD6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soft-route-sum"/>
          <p:cNvSpPr/>
          <p:nvPr/>
        </p:nvSpPr>
        <p:spPr>
          <a:xfrm>
            <a:off x="9401386" y="1171786"/>
            <a:ext cx="284479" cy="284479"/>
          </a:xfrm>
          <a:prstGeom prst="ellipse">
            <a:avLst/>
          </a:prstGeom>
          <a:solidFill>
            <a:srgbClr val="27887A"/>
          </a:solidFill>
          <a:ln w="762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435253" y="1188719"/>
            <a:ext cx="216746" cy="228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3" b="1" i="0">
                <a:solidFill>
                  <a:srgbClr val="FFFFFF"/>
                </a:solidFill>
                <a:latin typeface="Times New Roman"/>
              </a:rPr>
              <a:t>Σ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9699413" y="1314026"/>
            <a:ext cx="169333" cy="0"/>
          </a:xfrm>
          <a:prstGeom prst="line">
            <a:avLst/>
          </a:prstGeom>
          <a:ln w="13546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sparse-fusion-0-0"/>
          <p:cNvSpPr/>
          <p:nvPr/>
        </p:nvSpPr>
        <p:spPr>
          <a:xfrm>
            <a:off x="9895839" y="1185333"/>
            <a:ext cx="47413" cy="47413"/>
          </a:xfrm>
          <a:prstGeom prst="roundRect">
            <a:avLst>
              <a:gd name="adj" fmla="val 8000"/>
            </a:avLst>
          </a:prstGeom>
          <a:solidFill>
            <a:srgbClr val="C8E5E1"/>
          </a:solidFill>
          <a:ln w="8890">
            <a:solidFill>
              <a:srgbClr val="C8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sparse-fusion-0-1"/>
          <p:cNvSpPr/>
          <p:nvPr/>
        </p:nvSpPr>
        <p:spPr>
          <a:xfrm>
            <a:off x="9963573" y="1185333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sparse-fusion-0-2"/>
          <p:cNvSpPr/>
          <p:nvPr/>
        </p:nvSpPr>
        <p:spPr>
          <a:xfrm>
            <a:off x="10031306" y="1185333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sparse-fusion-0-3"/>
          <p:cNvSpPr/>
          <p:nvPr/>
        </p:nvSpPr>
        <p:spPr>
          <a:xfrm>
            <a:off x="10099039" y="1185333"/>
            <a:ext cx="47413" cy="47413"/>
          </a:xfrm>
          <a:prstGeom prst="roundRect">
            <a:avLst>
              <a:gd name="adj" fmla="val 8000"/>
            </a:avLst>
          </a:prstGeom>
          <a:solidFill>
            <a:srgbClr val="C8E5E1"/>
          </a:solidFill>
          <a:ln w="8890">
            <a:solidFill>
              <a:srgbClr val="C8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sparse-fusion-1-0"/>
          <p:cNvSpPr/>
          <p:nvPr/>
        </p:nvSpPr>
        <p:spPr>
          <a:xfrm>
            <a:off x="9895839" y="1253066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sparse-fusion-1-1"/>
          <p:cNvSpPr/>
          <p:nvPr/>
        </p:nvSpPr>
        <p:spPr>
          <a:xfrm>
            <a:off x="9963573" y="1253066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sparse-fusion-1-2"/>
          <p:cNvSpPr/>
          <p:nvPr/>
        </p:nvSpPr>
        <p:spPr>
          <a:xfrm>
            <a:off x="10031306" y="1253066"/>
            <a:ext cx="47413" cy="47413"/>
          </a:xfrm>
          <a:prstGeom prst="roundRect">
            <a:avLst>
              <a:gd name="adj" fmla="val 8000"/>
            </a:avLst>
          </a:prstGeom>
          <a:solidFill>
            <a:srgbClr val="C8E5E1"/>
          </a:solidFill>
          <a:ln w="8890">
            <a:solidFill>
              <a:srgbClr val="C8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sparse-fusion-1-3"/>
          <p:cNvSpPr/>
          <p:nvPr/>
        </p:nvSpPr>
        <p:spPr>
          <a:xfrm>
            <a:off x="10099039" y="1253066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sparse-fusion-2-0"/>
          <p:cNvSpPr/>
          <p:nvPr/>
        </p:nvSpPr>
        <p:spPr>
          <a:xfrm>
            <a:off x="9895839" y="1320799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sparse-fusion-2-1"/>
          <p:cNvSpPr/>
          <p:nvPr/>
        </p:nvSpPr>
        <p:spPr>
          <a:xfrm>
            <a:off x="9963573" y="1320799"/>
            <a:ext cx="47413" cy="47413"/>
          </a:xfrm>
          <a:prstGeom prst="roundRect">
            <a:avLst>
              <a:gd name="adj" fmla="val 8000"/>
            </a:avLst>
          </a:prstGeom>
          <a:solidFill>
            <a:srgbClr val="C8E5E1"/>
          </a:solidFill>
          <a:ln w="8890">
            <a:solidFill>
              <a:srgbClr val="C8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sparse-fusion-2-2"/>
          <p:cNvSpPr/>
          <p:nvPr/>
        </p:nvSpPr>
        <p:spPr>
          <a:xfrm>
            <a:off x="10031306" y="1320799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sparse-fusion-2-3"/>
          <p:cNvSpPr/>
          <p:nvPr/>
        </p:nvSpPr>
        <p:spPr>
          <a:xfrm>
            <a:off x="10099039" y="1320799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sparse-fusion-3-0"/>
          <p:cNvSpPr/>
          <p:nvPr/>
        </p:nvSpPr>
        <p:spPr>
          <a:xfrm>
            <a:off x="9895839" y="1388533"/>
            <a:ext cx="47413" cy="47413"/>
          </a:xfrm>
          <a:prstGeom prst="roundRect">
            <a:avLst>
              <a:gd name="adj" fmla="val 8000"/>
            </a:avLst>
          </a:prstGeom>
          <a:solidFill>
            <a:srgbClr val="C8E5E1"/>
          </a:solidFill>
          <a:ln w="8890">
            <a:solidFill>
              <a:srgbClr val="C8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sparse-fusion-3-1"/>
          <p:cNvSpPr/>
          <p:nvPr/>
        </p:nvSpPr>
        <p:spPr>
          <a:xfrm>
            <a:off x="9963573" y="1388533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sparse-fusion-3-2"/>
          <p:cNvSpPr/>
          <p:nvPr/>
        </p:nvSpPr>
        <p:spPr>
          <a:xfrm>
            <a:off x="10031306" y="1388533"/>
            <a:ext cx="47413" cy="47413"/>
          </a:xfrm>
          <a:prstGeom prst="roundRect">
            <a:avLst>
              <a:gd name="adj" fmla="val 8000"/>
            </a:avLst>
          </a:prstGeom>
          <a:solidFill>
            <a:srgbClr val="27887A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sparse-fusion-3-3"/>
          <p:cNvSpPr/>
          <p:nvPr/>
        </p:nvSpPr>
        <p:spPr>
          <a:xfrm>
            <a:off x="10099039" y="1388533"/>
            <a:ext cx="47413" cy="47413"/>
          </a:xfrm>
          <a:prstGeom prst="roundRect">
            <a:avLst>
              <a:gd name="adj" fmla="val 8000"/>
            </a:avLst>
          </a:prstGeom>
          <a:solidFill>
            <a:srgbClr val="C8E5E1"/>
          </a:solidFill>
          <a:ln w="8890">
            <a:solidFill>
              <a:srgbClr val="C8E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vdsf-fusion-label"/>
          <p:cNvSpPr txBox="1"/>
          <p:nvPr/>
        </p:nvSpPr>
        <p:spPr>
          <a:xfrm>
            <a:off x="9116906" y="1564639"/>
            <a:ext cx="1015999" cy="3115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13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7887A"/>
                </a:solidFill>
                <a:latin typeface="Times New Roman"/>
              </a:rPr>
              <a:t>soft route</a:t>
            </a:r>
          </a:p>
          <a:p>
            <a:pPr algn="ctr">
              <a:lnSpc>
                <a:spcPts val="1013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7887A"/>
                </a:solidFill>
                <a:latin typeface="Times New Roman"/>
              </a:rPr>
              <a:t>sparse fusion</a:t>
            </a:r>
          </a:p>
        </p:txBody>
      </p:sp>
      <p:sp>
        <p:nvSpPr>
          <p:cNvPr id="152" name="vdsf-summary"/>
          <p:cNvSpPr txBox="1"/>
          <p:nvPr/>
        </p:nvSpPr>
        <p:spPr>
          <a:xfrm>
            <a:off x="7531946" y="1839908"/>
            <a:ext cx="2235199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27887A"/>
                </a:solidFill>
                <a:latin typeface="Times New Roman"/>
              </a:rPr>
              <a:t>supervised P/T/R source routing</a:t>
            </a:r>
          </a:p>
        </p:txBody>
      </p:sp>
      <p:sp>
        <p:nvSpPr>
          <p:cNvPr id="153" name="training-target-1"/>
          <p:cNvSpPr/>
          <p:nvPr/>
        </p:nvSpPr>
        <p:spPr>
          <a:xfrm>
            <a:off x="3630506" y="2133599"/>
            <a:ext cx="961813" cy="1828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2F6F9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3664373" y="2148433"/>
            <a:ext cx="894079" cy="1417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2F6F9F"/>
                </a:solidFill>
                <a:latin typeface="Times New Roman"/>
              </a:rPr>
              <a:t>candidate targets</a:t>
            </a:r>
          </a:p>
        </p:txBody>
      </p:sp>
      <p:cxnSp>
        <p:nvCxnSpPr>
          <p:cNvPr id="155" name="Connector 154"/>
          <p:cNvCxnSpPr/>
          <p:nvPr/>
        </p:nvCxnSpPr>
        <p:spPr>
          <a:xfrm flipV="1">
            <a:off x="4111413" y="2106506"/>
            <a:ext cx="0" cy="20320"/>
          </a:xfrm>
          <a:prstGeom prst="line">
            <a:avLst/>
          </a:prstGeom>
          <a:ln w="9525">
            <a:solidFill>
              <a:srgbClr val="2F6F9F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raining-target-2"/>
          <p:cNvSpPr/>
          <p:nvPr/>
        </p:nvSpPr>
        <p:spPr>
          <a:xfrm>
            <a:off x="5540586" y="2133599"/>
            <a:ext cx="961813" cy="1828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C7781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574453" y="2148433"/>
            <a:ext cx="894079" cy="1417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C7781C"/>
                </a:solidFill>
                <a:latin typeface="Times New Roman"/>
              </a:rPr>
              <a:t>velocity targets</a:t>
            </a:r>
          </a:p>
        </p:txBody>
      </p:sp>
      <p:cxnSp>
        <p:nvCxnSpPr>
          <p:cNvPr id="158" name="Connector 157"/>
          <p:cNvCxnSpPr/>
          <p:nvPr/>
        </p:nvCxnSpPr>
        <p:spPr>
          <a:xfrm flipV="1">
            <a:off x="6021493" y="2106506"/>
            <a:ext cx="0" cy="20320"/>
          </a:xfrm>
          <a:prstGeom prst="line">
            <a:avLst/>
          </a:prstGeom>
          <a:ln w="9525">
            <a:solidFill>
              <a:srgbClr val="C7781C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training-target-3"/>
          <p:cNvSpPr/>
          <p:nvPr/>
        </p:nvSpPr>
        <p:spPr>
          <a:xfrm>
            <a:off x="8046719" y="2133599"/>
            <a:ext cx="1205653" cy="1828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2788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080586" y="2148433"/>
            <a:ext cx="1137919" cy="1417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26" b="1" i="0">
                <a:solidFill>
                  <a:srgbClr val="27887A"/>
                </a:solidFill>
                <a:latin typeface="Times New Roman"/>
              </a:rPr>
              <a:t>P/T/R targets</a:t>
            </a:r>
          </a:p>
        </p:txBody>
      </p:sp>
      <p:cxnSp>
        <p:nvCxnSpPr>
          <p:cNvPr id="161" name="Connector 160"/>
          <p:cNvCxnSpPr/>
          <p:nvPr/>
        </p:nvCxnSpPr>
        <p:spPr>
          <a:xfrm flipV="1">
            <a:off x="8649546" y="2106506"/>
            <a:ext cx="0" cy="20320"/>
          </a:xfrm>
          <a:prstGeom prst="line">
            <a:avLst/>
          </a:prstGeom>
          <a:ln w="9525">
            <a:solidFill>
              <a:srgbClr val="27887A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training-only-label"/>
          <p:cNvSpPr txBox="1"/>
          <p:nvPr/>
        </p:nvSpPr>
        <p:spPr>
          <a:xfrm>
            <a:off x="2377439" y="2155342"/>
            <a:ext cx="745066" cy="13258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3" b="1" i="1">
                <a:solidFill>
                  <a:srgbClr val="5F6B7A"/>
                </a:solidFill>
                <a:latin typeface="Times New Roman"/>
              </a:rPr>
              <a:t>training only</a:t>
            </a:r>
          </a:p>
        </p:txBody>
      </p:sp>
      <p:sp>
        <p:nvSpPr>
          <p:cNvPr id="163" name="temporal-memory-loop"/>
          <p:cNvSpPr/>
          <p:nvPr/>
        </p:nvSpPr>
        <p:spPr>
          <a:xfrm>
            <a:off x="2357119" y="2458719"/>
            <a:ext cx="7911253" cy="907626"/>
          </a:xfrm>
          <a:prstGeom prst="roundRect">
            <a:avLst>
              <a:gd name="adj" fmla="val 8000"/>
            </a:avLst>
          </a:prstGeom>
          <a:solidFill>
            <a:srgbClr val="FAFBFC"/>
          </a:solidFill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mporal-memory-heading"/>
          <p:cNvSpPr txBox="1"/>
          <p:nvPr/>
        </p:nvSpPr>
        <p:spPr>
          <a:xfrm>
            <a:off x="2499359" y="2503694"/>
            <a:ext cx="1896533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5F6B7A"/>
                </a:solidFill>
                <a:latin typeface="Times New Roman"/>
              </a:rPr>
              <a:t>TEMPORAL MEMORY LOOP</a:t>
            </a:r>
          </a:p>
        </p:txBody>
      </p:sp>
      <p:sp>
        <p:nvSpPr>
          <p:cNvPr id="165" name="fifo-slot-1"/>
          <p:cNvSpPr/>
          <p:nvPr/>
        </p:nvSpPr>
        <p:spPr>
          <a:xfrm>
            <a:off x="2587413" y="2804159"/>
            <a:ext cx="568959" cy="277706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889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2614506" y="2866271"/>
            <a:ext cx="514773" cy="150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9" b="1" i="0">
                <a:solidFill>
                  <a:srgbClr val="1F2937"/>
                </a:solidFill>
                <a:latin typeface="Times New Roman"/>
              </a:rPr>
              <a:t>slot  t−3</a:t>
            </a:r>
          </a:p>
        </p:txBody>
      </p:sp>
      <p:sp>
        <p:nvSpPr>
          <p:cNvPr id="167" name="fifo-slot-2"/>
          <p:cNvSpPr/>
          <p:nvPr/>
        </p:nvSpPr>
        <p:spPr>
          <a:xfrm>
            <a:off x="2668693" y="2763519"/>
            <a:ext cx="568959" cy="277706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889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695786" y="2825631"/>
            <a:ext cx="514773" cy="150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9" b="1" i="0">
                <a:solidFill>
                  <a:srgbClr val="1F2937"/>
                </a:solidFill>
                <a:latin typeface="Times New Roman"/>
              </a:rPr>
              <a:t>slot  t−2</a:t>
            </a:r>
          </a:p>
        </p:txBody>
      </p:sp>
      <p:sp>
        <p:nvSpPr>
          <p:cNvPr id="169" name="fifo-slot-3"/>
          <p:cNvSpPr/>
          <p:nvPr/>
        </p:nvSpPr>
        <p:spPr>
          <a:xfrm>
            <a:off x="2749973" y="2722879"/>
            <a:ext cx="568959" cy="277706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889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777066" y="2784991"/>
            <a:ext cx="514773" cy="150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9" b="1" i="0">
                <a:solidFill>
                  <a:srgbClr val="1F2937"/>
                </a:solidFill>
                <a:latin typeface="Times New Roman"/>
              </a:rPr>
              <a:t>slot  t−1</a:t>
            </a:r>
          </a:p>
        </p:txBody>
      </p:sp>
      <p:sp>
        <p:nvSpPr>
          <p:cNvPr id="171" name="fifo-label"/>
          <p:cNvSpPr txBox="1"/>
          <p:nvPr/>
        </p:nvSpPr>
        <p:spPr>
          <a:xfrm>
            <a:off x="2269066" y="3126976"/>
            <a:ext cx="1286933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5F6B7A"/>
                </a:solidFill>
                <a:latin typeface="Times New Roman"/>
              </a:rPr>
              <a:t>cached feature + VVE prior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3291839" y="2946399"/>
            <a:ext cx="216747" cy="0"/>
          </a:xfrm>
          <a:prstGeom prst="line">
            <a:avLst/>
          </a:prstGeom>
          <a:ln w="12869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same-grid-memory"/>
          <p:cNvSpPr/>
          <p:nvPr/>
        </p:nvSpPr>
        <p:spPr>
          <a:xfrm>
            <a:off x="3549226" y="2763519"/>
            <a:ext cx="2248746" cy="37253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same-grid-memory-label"/>
          <p:cNvSpPr txBox="1"/>
          <p:nvPr/>
        </p:nvSpPr>
        <p:spPr>
          <a:xfrm>
            <a:off x="3623733" y="2797386"/>
            <a:ext cx="2099733" cy="31157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13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1F2937"/>
                </a:solidFill>
                <a:latin typeface="Times New Roman"/>
              </a:rPr>
              <a:t>same-grid multi-slot memory</a:t>
            </a:r>
          </a:p>
          <a:p>
            <a:pPr algn="ctr">
              <a:lnSpc>
                <a:spcPts val="1013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1F2937"/>
                </a:solidFill>
                <a:latin typeface="Times New Roman"/>
              </a:rPr>
              <a:t>fixed roadside coordinates</a:t>
            </a:r>
          </a:p>
        </p:txBody>
      </p:sp>
      <p:cxnSp>
        <p:nvCxnSpPr>
          <p:cNvPr id="175" name="Connector 174"/>
          <p:cNvCxnSpPr/>
          <p:nvPr/>
        </p:nvCxnSpPr>
        <p:spPr>
          <a:xfrm>
            <a:off x="5797973" y="2871893"/>
            <a:ext cx="176106" cy="0"/>
          </a:xfrm>
          <a:prstGeom prst="line">
            <a:avLst/>
          </a:prstGeom>
          <a:ln w="12191">
            <a:solidFill>
              <a:srgbClr val="C7781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nearest-slot-vve"/>
          <p:cNvSpPr/>
          <p:nvPr/>
        </p:nvSpPr>
        <p:spPr>
          <a:xfrm>
            <a:off x="6014719" y="2749973"/>
            <a:ext cx="1022773" cy="237066"/>
          </a:xfrm>
          <a:prstGeom prst="roundRect">
            <a:avLst>
              <a:gd name="adj" fmla="val 8000"/>
            </a:avLst>
          </a:prstGeom>
          <a:solidFill>
            <a:srgbClr val="FFF3E3"/>
          </a:solidFill>
          <a:ln w="8890">
            <a:solidFill>
              <a:srgbClr val="C778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041813" y="2791764"/>
            <a:ext cx="968586" cy="150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9" b="1" i="0">
                <a:solidFill>
                  <a:srgbClr val="C7781C"/>
                </a:solidFill>
                <a:latin typeface="Times New Roman"/>
              </a:rPr>
              <a:t>nearest slot → VVE</a:t>
            </a:r>
          </a:p>
        </p:txBody>
      </p:sp>
      <p:cxnSp>
        <p:nvCxnSpPr>
          <p:cNvPr id="178" name="Connector 177"/>
          <p:cNvCxnSpPr/>
          <p:nvPr/>
        </p:nvCxnSpPr>
        <p:spPr>
          <a:xfrm>
            <a:off x="5797973" y="3027679"/>
            <a:ext cx="176106" cy="0"/>
          </a:xfrm>
          <a:prstGeom prst="line">
            <a:avLst/>
          </a:prstGeom>
          <a:ln w="12191">
            <a:solidFill>
              <a:srgbClr val="2788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9" name="all-slots-vdsf"/>
          <p:cNvSpPr/>
          <p:nvPr/>
        </p:nvSpPr>
        <p:spPr>
          <a:xfrm>
            <a:off x="6014719" y="3014133"/>
            <a:ext cx="1178559" cy="237066"/>
          </a:xfrm>
          <a:prstGeom prst="roundRect">
            <a:avLst>
              <a:gd name="adj" fmla="val 8000"/>
            </a:avLst>
          </a:prstGeom>
          <a:solidFill>
            <a:srgbClr val="E9F7F4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041813" y="3055924"/>
            <a:ext cx="1124373" cy="150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9" b="1" i="0">
                <a:solidFill>
                  <a:srgbClr val="27887A"/>
                </a:solidFill>
                <a:latin typeface="Times New Roman"/>
              </a:rPr>
              <a:t>all valid slots → VDSF</a:t>
            </a:r>
          </a:p>
        </p:txBody>
      </p:sp>
      <p:cxnSp>
        <p:nvCxnSpPr>
          <p:cNvPr id="181" name="vve-to-current-state-1"/>
          <p:cNvCxnSpPr/>
          <p:nvPr/>
        </p:nvCxnSpPr>
        <p:spPr>
          <a:xfrm>
            <a:off x="6807199" y="2106506"/>
            <a:ext cx="0" cy="555413"/>
          </a:xfrm>
          <a:prstGeom prst="line">
            <a:avLst/>
          </a:prstGeom>
          <a:ln w="11514">
            <a:solidFill>
              <a:srgbClr val="C77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vve-to-current-state-2"/>
          <p:cNvCxnSpPr/>
          <p:nvPr/>
        </p:nvCxnSpPr>
        <p:spPr>
          <a:xfrm>
            <a:off x="6807199" y="2661919"/>
            <a:ext cx="1286934" cy="0"/>
          </a:xfrm>
          <a:prstGeom prst="line">
            <a:avLst/>
          </a:prstGeom>
          <a:ln w="11514">
            <a:solidFill>
              <a:srgbClr val="C778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vve-to-current-state-3"/>
          <p:cNvCxnSpPr/>
          <p:nvPr/>
        </p:nvCxnSpPr>
        <p:spPr>
          <a:xfrm>
            <a:off x="8094133" y="2661919"/>
            <a:ext cx="0" cy="115147"/>
          </a:xfrm>
          <a:prstGeom prst="line">
            <a:avLst/>
          </a:prstGeom>
          <a:ln w="11514">
            <a:solidFill>
              <a:srgbClr val="C7781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6841066" y="2500511"/>
            <a:ext cx="1083733" cy="150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9" b="1" i="0">
                <a:solidFill>
                  <a:srgbClr val="C7781C"/>
                </a:solidFill>
                <a:latin typeface="Times New Roman"/>
              </a:rPr>
              <a:t>VVE prior  v̂ₜˢ</a:t>
            </a:r>
          </a:p>
        </p:txBody>
      </p:sp>
      <p:sp>
        <p:nvSpPr>
          <p:cNvPr id="185" name="append-current-state"/>
          <p:cNvSpPr/>
          <p:nvPr/>
        </p:nvSpPr>
        <p:spPr>
          <a:xfrm>
            <a:off x="8094133" y="2763519"/>
            <a:ext cx="1896533" cy="392853"/>
          </a:xfrm>
          <a:prstGeom prst="roundRect">
            <a:avLst>
              <a:gd name="adj" fmla="val 8000"/>
            </a:avLst>
          </a:prstGeom>
          <a:solidFill>
            <a:srgbClr val="E9F7F4"/>
          </a:solidFill>
          <a:ln w="8890">
            <a:solidFill>
              <a:srgbClr val="2788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195733" y="2788310"/>
            <a:ext cx="1693333" cy="1554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27887A"/>
                </a:solidFill>
                <a:latin typeface="Times New Roman"/>
              </a:rPr>
              <a:t>append current state</a:t>
            </a:r>
          </a:p>
        </p:txBody>
      </p:sp>
      <p:sp>
        <p:nvSpPr>
          <p:cNvPr id="187" name="append-current-state-label"/>
          <p:cNvSpPr txBox="1"/>
          <p:nvPr/>
        </p:nvSpPr>
        <p:spPr>
          <a:xfrm>
            <a:off x="8195733" y="2947551"/>
            <a:ext cx="1693333" cy="150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9" b="1" i="0">
                <a:solidFill>
                  <a:srgbClr val="1F2937"/>
                </a:solidFill>
                <a:latin typeface="Times New Roman"/>
              </a:rPr>
              <a:t>fused Hₜˢ  +  VVE v̂ₜˢ</a:t>
            </a:r>
          </a:p>
        </p:txBody>
      </p:sp>
      <p:cxnSp>
        <p:nvCxnSpPr>
          <p:cNvPr id="188" name="vdsf-to-current-state-1"/>
          <p:cNvCxnSpPr/>
          <p:nvPr/>
        </p:nvCxnSpPr>
        <p:spPr>
          <a:xfrm>
            <a:off x="9543626" y="2113279"/>
            <a:ext cx="0" cy="643467"/>
          </a:xfrm>
          <a:prstGeom prst="line">
            <a:avLst/>
          </a:prstGeom>
          <a:ln w="12191">
            <a:solidFill>
              <a:srgbClr val="27887A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next-frame-return-1"/>
          <p:cNvCxnSpPr/>
          <p:nvPr/>
        </p:nvCxnSpPr>
        <p:spPr>
          <a:xfrm>
            <a:off x="9753599" y="3163146"/>
            <a:ext cx="0" cy="121920"/>
          </a:xfrm>
          <a:prstGeom prst="line">
            <a:avLst/>
          </a:prstGeom>
          <a:ln w="10159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next-frame-return-2"/>
          <p:cNvCxnSpPr/>
          <p:nvPr/>
        </p:nvCxnSpPr>
        <p:spPr>
          <a:xfrm flipH="1">
            <a:off x="2912533" y="3285066"/>
            <a:ext cx="6841066" cy="0"/>
          </a:xfrm>
          <a:prstGeom prst="line">
            <a:avLst/>
          </a:prstGeom>
          <a:ln w="10159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next-frame-return-3"/>
          <p:cNvCxnSpPr/>
          <p:nvPr/>
        </p:nvCxnSpPr>
        <p:spPr>
          <a:xfrm flipV="1">
            <a:off x="2912533" y="3142826"/>
            <a:ext cx="0" cy="142240"/>
          </a:xfrm>
          <a:prstGeom prst="line">
            <a:avLst/>
          </a:prstGeom>
          <a:ln w="10159">
            <a:solidFill>
              <a:srgbClr val="64748B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next-frame-label-bg"/>
          <p:cNvSpPr/>
          <p:nvPr/>
        </p:nvSpPr>
        <p:spPr>
          <a:xfrm>
            <a:off x="5249333" y="3210559"/>
            <a:ext cx="2167466" cy="149013"/>
          </a:xfrm>
          <a:prstGeom prst="rect">
            <a:avLst/>
          </a:prstGeom>
          <a:solidFill>
            <a:srgbClr val="FAFBFC"/>
          </a:solidFill>
          <a:ln w="8890">
            <a:solidFill>
              <a:srgbClr val="FAFB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next-frame-label"/>
          <p:cNvSpPr txBox="1"/>
          <p:nvPr/>
        </p:nvSpPr>
        <p:spPr>
          <a:xfrm>
            <a:off x="5283199" y="3204938"/>
            <a:ext cx="2099733" cy="150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79" b="1" i="0">
                <a:solidFill>
                  <a:srgbClr val="5F6B7A"/>
                </a:solidFill>
                <a:latin typeface="Times New Roman"/>
              </a:rPr>
              <a:t>reuse as history at  t+1</a:t>
            </a:r>
          </a:p>
        </p:txBody>
      </p:sp>
      <p:cxnSp>
        <p:nvCxnSpPr>
          <p:cNvPr id="194" name="decoder-to-output"/>
          <p:cNvCxnSpPr/>
          <p:nvPr/>
        </p:nvCxnSpPr>
        <p:spPr>
          <a:xfrm>
            <a:off x="10403839" y="1158239"/>
            <a:ext cx="176107" cy="0"/>
          </a:xfrm>
          <a:prstGeom prst="line">
            <a:avLst/>
          </a:prstGeom>
          <a:ln w="15578">
            <a:solidFill>
              <a:srgbClr val="1F293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predictions-heading"/>
          <p:cNvSpPr txBox="1"/>
          <p:nvPr/>
        </p:nvSpPr>
        <p:spPr>
          <a:xfrm>
            <a:off x="10667999" y="50935"/>
            <a:ext cx="1422399" cy="21945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79" b="1" i="0">
                <a:solidFill>
                  <a:srgbClr val="1F2937"/>
                </a:solidFill>
                <a:latin typeface="Times New Roman"/>
              </a:rPr>
              <a:t>Predictions</a:t>
            </a:r>
          </a:p>
        </p:txBody>
      </p:sp>
      <p:sp>
        <p:nvSpPr>
          <p:cNvPr id="196" name="predictions"/>
          <p:cNvSpPr/>
          <p:nvPr/>
        </p:nvSpPr>
        <p:spPr>
          <a:xfrm>
            <a:off x="10600266" y="338666"/>
            <a:ext cx="1483359" cy="302767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59">
            <a:solidFill>
              <a:srgbClr val="A8B3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7" name="occupancy-output" descr="image.png"/>
          <p:cNvPicPr>
            <a:picLocks noChangeAspect="1"/>
          </p:cNvPicPr>
          <p:nvPr/>
        </p:nvPicPr>
        <p:blipFill>
          <a:blip r:embed="rId9"/>
          <a:srcRect t="386" b="386"/>
          <a:stretch>
            <a:fillRect/>
          </a:stretch>
        </p:blipFill>
        <p:spPr>
          <a:xfrm>
            <a:off x="10688319" y="474133"/>
            <a:ext cx="1307253" cy="1239519"/>
          </a:xfrm>
          <a:prstGeom prst="rect">
            <a:avLst/>
          </a:prstGeom>
        </p:spPr>
      </p:pic>
      <p:sp>
        <p:nvSpPr>
          <p:cNvPr id="198" name="occupancy-output-border"/>
          <p:cNvSpPr/>
          <p:nvPr/>
        </p:nvSpPr>
        <p:spPr>
          <a:xfrm>
            <a:off x="10688319" y="474133"/>
            <a:ext cx="1307253" cy="1239519"/>
          </a:xfrm>
          <a:prstGeom prst="rect">
            <a:avLst/>
          </a:prstGeom>
          <a:noFill/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ccupancy-output-label"/>
          <p:cNvSpPr txBox="1"/>
          <p:nvPr/>
        </p:nvSpPr>
        <p:spPr>
          <a:xfrm>
            <a:off x="10698479" y="1745081"/>
            <a:ext cx="1286933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1F2937"/>
                </a:solidFill>
                <a:latin typeface="Times New Roman"/>
              </a:rPr>
              <a:t>semantic occupancy</a:t>
            </a:r>
          </a:p>
        </p:txBody>
      </p:sp>
      <p:cxnSp>
        <p:nvCxnSpPr>
          <p:cNvPr id="200" name="velocity-vector-1"/>
          <p:cNvCxnSpPr/>
          <p:nvPr/>
        </p:nvCxnSpPr>
        <p:spPr>
          <a:xfrm flipV="1">
            <a:off x="10871199" y="2059093"/>
            <a:ext cx="237067" cy="88053"/>
          </a:xfrm>
          <a:prstGeom prst="line">
            <a:avLst/>
          </a:prstGeom>
          <a:ln w="16255">
            <a:solidFill>
              <a:srgbClr val="C7781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velocity-vector-2"/>
          <p:cNvCxnSpPr/>
          <p:nvPr/>
        </p:nvCxnSpPr>
        <p:spPr>
          <a:xfrm>
            <a:off x="11175999" y="2167466"/>
            <a:ext cx="257387" cy="0"/>
          </a:xfrm>
          <a:prstGeom prst="line">
            <a:avLst/>
          </a:prstGeom>
          <a:ln w="16255">
            <a:solidFill>
              <a:srgbClr val="C7781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velocity-vector-3"/>
          <p:cNvCxnSpPr/>
          <p:nvPr/>
        </p:nvCxnSpPr>
        <p:spPr>
          <a:xfrm>
            <a:off x="11480799" y="2065866"/>
            <a:ext cx="237067" cy="94827"/>
          </a:xfrm>
          <a:prstGeom prst="line">
            <a:avLst/>
          </a:prstGeom>
          <a:ln w="16255">
            <a:solidFill>
              <a:srgbClr val="C7781C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3" name="velocity-output-label"/>
          <p:cNvSpPr txBox="1"/>
          <p:nvPr/>
        </p:nvSpPr>
        <p:spPr>
          <a:xfrm>
            <a:off x="10732346" y="2253081"/>
            <a:ext cx="1219199" cy="1645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9" b="1" i="0">
                <a:solidFill>
                  <a:srgbClr val="C7781C"/>
                </a:solidFill>
                <a:latin typeface="Times New Roman"/>
              </a:rPr>
              <a:t>voxel velocity</a:t>
            </a:r>
          </a:p>
        </p:txBody>
      </p:sp>
      <p:sp>
        <p:nvSpPr>
          <p:cNvPr id="204" name="full-resolution-state"/>
          <p:cNvSpPr/>
          <p:nvPr/>
        </p:nvSpPr>
        <p:spPr>
          <a:xfrm>
            <a:off x="10783146" y="2621279"/>
            <a:ext cx="1117599" cy="419946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 w="889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full-resolution-state-label"/>
          <p:cNvSpPr txBox="1"/>
          <p:nvPr/>
        </p:nvSpPr>
        <p:spPr>
          <a:xfrm>
            <a:off x="10833946" y="2668693"/>
            <a:ext cx="1015999" cy="3251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5F6B7A"/>
                </a:solidFill>
                <a:latin typeface="Times New Roman"/>
              </a:rPr>
              <a:t>full-resolution</a:t>
            </a:r>
          </a:p>
          <a:p>
            <a:pPr algn="ctr">
              <a:lnSpc>
                <a:spcPts val="1066"/>
              </a:lnSpc>
              <a:spcBef>
                <a:spcPts val="0"/>
              </a:spcBef>
              <a:spcAft>
                <a:spcPts val="0"/>
              </a:spcAft>
            </a:pPr>
            <a:r>
              <a:rPr sz="906" b="1" i="0">
                <a:solidFill>
                  <a:srgbClr val="5F6B7A"/>
                </a:solidFill>
                <a:latin typeface="Times New Roman"/>
              </a:rPr>
              <a:t>scene state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RoadOcc framework</dc:title>
  <dc:subject>Editable ICLR 2027 framework figure</dc:subject>
  <dc:creator/>
  <cp:keywords/>
  <dc:description>Native PowerPoint shapes with independent evidence image layers. Visual grammar informed by recent occupancy and collaborative perception framework figures; no reference artwork is copied.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